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Sản phẩm: NotebookLM của Google Labs, đổi tên thành Gemini Notebook từ 16/07/2026. Deck đi theo ba bước: timeline nguyên lý, tệp user, rồi ba dự đoán.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Năm phút: một phút cho timeline, một phút cho tệp user, hai phút cho dự đoán, còn lại cho giới hạn của bảng.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Một hàng chỉ vào bảng nếu nó đổi ai dùng, dữ liệu nào vào, output nào ra, hoặc cách kiếm tiền.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Bốn mốc đầu: chốt ràng buộc, mở van dữ liệu vào ràng buộc đó, đổi cách output đi ra, rồi đóng gói và thu tiền.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Bốn mốc sau: đổi điểm nạp dữ liệu, đóng vòng phản hồi cho sinh viên, tự nới ràng buộc sáng lập, rồi bán mình vào hệ phân phối Gemini.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 luận định tính từ nguồn Google, App Store, Reddit và báo chí — không phải mẫu khảo sát đại diện.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Khác biệt cốt lõi: early adopters mang kho tri thức vào sản phẩm; tệp hiện tại bắt đầu bằng một nhiệm vụ gần hạn rồi mới xây thói quen. Vì thế Audio và mobile quan trọng hơn chatbot thuần tuý.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Phạm vi dự đoán: 08/2026 đến 08/2027. Mỗi dự đoán dẫn ngược về một mốc ở phần 01 và một lực ở phần 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dự đoán mạnh nhất vì đã có tín hiệu kiến trúc công khai: notebooks đồng bộ giữa Gemini và NotebookLM từ 08/04/2026.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Công thức này đã dùng hai lần: Plus 12/2024 và cloud computer 07/2026. Tính năng sâu nhất là tính năng bán được.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Rủi ro ngược của dự đoán 1: cùng một lực tích hợp có thể biến sản phẩm thành một tính năng của Gemini.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Câu chốt: sản phẩm chưa bao giờ đua chatbot vạn năng; nó xây lớp nguồn có kiểm soát rồi mới mở distribution, pricing và segment lên trên lớp đó.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748070"/>
            <a:ext cx="2998006" cy="204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spc="108" kern="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TEARDOWN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83588" y="3981450"/>
            <a:ext cx="17667554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0" spc="-156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NotebookLM → Gemini Notebook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143000" y="5467350"/>
            <a:ext cx="841725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48"/>
              </a:lnSpc>
              <a:buNone/>
            </a:pPr>
            <a:r>
              <a:rPr lang="en-US" sz="30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Tám cột mốc, một tệp user đã dịch chuyển, và ba dự đoán cho 12 tháng tới.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43000" y="9206270"/>
            <a:ext cx="1685830" cy="204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Day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847022" y="9206270"/>
            <a:ext cx="142161" cy="204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084433" y="9206270"/>
            <a:ext cx="1009055" cy="204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08/2026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06448" y="1842492"/>
            <a:ext cx="17642408" cy="481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826"/>
              </a:lnSpc>
              <a:buNone/>
            </a:pPr>
            <a:r>
              <a:rPr lang="en-US" sz="4800" spc="-7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190875"/>
            <a:ext cx="9906000" cy="1377077"/>
          </a:xfrm>
          <a:prstGeom prst="rect">
            <a:avLst/>
          </a:prstGeom>
          <a:gradFill rotWithShape="1">
            <a:gsLst>
              <a:gs pos="0">
                <a:srgbClr val="E6E6EC">
                  <a:alpha val="0"/>
                </a:srgbClr>
              </a:gs>
              <a:gs pos="50000">
                <a:srgbClr val="E6E6EC">
                  <a:alpha val="16000"/>
                </a:srgbClr>
              </a:gs>
              <a:gs pos="100000">
                <a:srgbClr val="E6E6EC">
                  <a:alpha val="16000"/>
                </a:srgbClr>
              </a:gs>
              <a:gs pos="100000">
                <a:srgbClr val="E6E6EC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" name="Text 3"/>
          <p:cNvSpPr/>
          <p:nvPr/>
        </p:nvSpPr>
        <p:spPr>
          <a:xfrm>
            <a:off x="1143000" y="3851672"/>
            <a:ext cx="372666" cy="204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96666" y="3740825"/>
            <a:ext cx="4112943" cy="3152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21"/>
              </a:lnSpc>
              <a:buNone/>
            </a:pPr>
            <a:r>
              <a:rPr lang="en-US" sz="30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&amp; nguyên lý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143000" y="4567952"/>
            <a:ext cx="9906000" cy="1369457"/>
          </a:xfrm>
          <a:prstGeom prst="rect">
            <a:avLst/>
          </a:prstGeom>
          <a:gradFill rotWithShape="1">
            <a:gsLst>
              <a:gs pos="0">
                <a:srgbClr val="E6E6EC">
                  <a:alpha val="0"/>
                </a:srgbClr>
              </a:gs>
              <a:gs pos="50000">
                <a:srgbClr val="E6E6EC">
                  <a:alpha val="16000"/>
                </a:srgbClr>
              </a:gs>
              <a:gs pos="100000">
                <a:srgbClr val="E6E6EC">
                  <a:alpha val="16000"/>
                </a:srgbClr>
              </a:gs>
              <a:gs pos="100000">
                <a:srgbClr val="E6E6EC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8" name="Text 6"/>
          <p:cNvSpPr/>
          <p:nvPr/>
        </p:nvSpPr>
        <p:spPr>
          <a:xfrm>
            <a:off x="1143000" y="5221129"/>
            <a:ext cx="372666" cy="204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96666" y="5110282"/>
            <a:ext cx="3352669" cy="3152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21"/>
              </a:lnSpc>
              <a:buNone/>
            </a:pPr>
            <a:r>
              <a:rPr lang="en-US" sz="30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Tệp user &amp; JTBD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143000" y="5937409"/>
            <a:ext cx="9906000" cy="1369457"/>
          </a:xfrm>
          <a:prstGeom prst="rect">
            <a:avLst/>
          </a:prstGeom>
          <a:gradFill rotWithShape="1">
            <a:gsLst>
              <a:gs pos="0">
                <a:srgbClr val="E6E6EC">
                  <a:alpha val="0"/>
                </a:srgbClr>
              </a:gs>
              <a:gs pos="50000">
                <a:srgbClr val="E6E6EC">
                  <a:alpha val="16000"/>
                </a:srgbClr>
              </a:gs>
              <a:gs pos="100000">
                <a:srgbClr val="E6E6EC">
                  <a:alpha val="16000"/>
                </a:srgbClr>
              </a:gs>
              <a:gs pos="100000">
                <a:srgbClr val="E6E6EC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1" name="Text 9"/>
          <p:cNvSpPr/>
          <p:nvPr/>
        </p:nvSpPr>
        <p:spPr>
          <a:xfrm>
            <a:off x="1143000" y="6590586"/>
            <a:ext cx="372666" cy="204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96666" y="6479739"/>
            <a:ext cx="2256592" cy="3152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21"/>
              </a:lnSpc>
              <a:buNone/>
            </a:pPr>
            <a:r>
              <a:rPr lang="en-US" sz="30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dự đoán</a:t>
            </a:r>
            <a:endParaRPr lang="en-US" sz="3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8705" y="9815869"/>
            <a:ext cx="2736294" cy="1663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62A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53A80">
                  <a:alpha val="70000"/>
                </a:srgbClr>
              </a:gs>
              <a:gs pos="64000">
                <a:srgbClr val="353A80">
                  <a:alpha val="0"/>
                </a:srgbClr>
              </a:gs>
            </a:gsLst>
            <a:path path="circle">
              <a:fillToRect l="22000" t="42000" r="78000" b="58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06793" y="3654862"/>
            <a:ext cx="2780205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209"/>
              </a:lnSpc>
              <a:buNone/>
            </a:pPr>
            <a:r>
              <a:rPr lang="en-US" sz="19500" spc="-390" kern="0" dirty="0">
                <a:solidFill>
                  <a:srgbClr val="4C53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500" dirty="0"/>
          </a:p>
        </p:txBody>
      </p:sp>
      <p:sp>
        <p:nvSpPr>
          <p:cNvPr id="4" name="Text 2"/>
          <p:cNvSpPr/>
          <p:nvPr/>
        </p:nvSpPr>
        <p:spPr>
          <a:xfrm>
            <a:off x="1106448" y="6264712"/>
            <a:ext cx="6456236" cy="481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826"/>
              </a:lnSpc>
              <a:buNone/>
            </a:pPr>
            <a:r>
              <a:rPr lang="en-US" sz="4800" spc="-7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&amp; nguyên lý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748070"/>
            <a:ext cx="1888308" cy="204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spc="108" kern="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TIMELINE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06448" y="1842492"/>
            <a:ext cx="17642408" cy="481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826"/>
              </a:lnSpc>
              <a:buNone/>
            </a:pPr>
            <a:r>
              <a:rPr lang="en-US" sz="4800" spc="-7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Cột mốc 1–4 · 2023–2024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143000" y="4010739"/>
            <a:ext cx="8298180" cy="273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67"/>
              </a:lnSpc>
              <a:buNone/>
            </a:pPr>
            <a:r>
              <a:rPr lang="en-US" sz="2550" spc="-38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12/07/2023 · NotebookLM ra mắt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43000" y="4467939"/>
            <a:ext cx="7770114" cy="6893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bị ràng buộc trong bộ nguồn user tự nạp; mọi câu trả lời có citation trỏ về đoạn gốc.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5576411"/>
            <a:ext cx="7770114" cy="6893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Ràng buộc là tính năng. Moat không nằm ở model mà ở corpus user tự mang vào.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01200" y="4010739"/>
            <a:ext cx="8298180" cy="273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67"/>
              </a:lnSpc>
              <a:buNone/>
            </a:pPr>
            <a:r>
              <a:rPr lang="en-US" sz="2550" spc="-38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06/06/2024 · Global &amp; Gemini 1.5 Pro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601200" y="4467939"/>
            <a:ext cx="7770114" cy="6893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200+ quốc gia, nhận thêm Slides và URL web, đọc được ảnh trong tài liệu.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601200" y="5576411"/>
            <a:ext cx="7770114" cy="6893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Năng lực model mới không dùng để trả lời hay hơn, mà để cho phép đổ nhiều loại nguồn hơn vào.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143000" y="7142083"/>
            <a:ext cx="8298180" cy="273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67"/>
              </a:lnSpc>
              <a:buNone/>
            </a:pPr>
            <a:r>
              <a:rPr lang="en-US" sz="2550" spc="-38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11/09/2024 · Audio Overviews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143000" y="7599283"/>
            <a:ext cx="7770114" cy="6893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Bộ nguồn thành cuộc hội thoại podcast hai host, tải về được.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43000" y="8707755"/>
            <a:ext cx="7770114" cy="6893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x10 ở khâu tiêu thụ, không phải khâu trả lời — và mỗi audio là một artifact chia sẻ được.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601200" y="7142083"/>
            <a:ext cx="8298180" cy="273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67"/>
              </a:lnSpc>
              <a:buNone/>
            </a:pPr>
            <a:r>
              <a:rPr lang="en-US" sz="2550" spc="-38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13/12/2024 · Plus &amp; Sources·Chat·Studio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601200" y="7599283"/>
            <a:ext cx="7770114" cy="6893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Gói Plus: limit gấp 5×, shared notebook, analytics, bảo mật tổ chức.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601200" y="8707755"/>
            <a:ext cx="7770114" cy="6893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Bán độ sâu workflow, không bán token. Ba khoang dựng sẵn hộc cho mọi format sau này.</a:t>
            </a:r>
            <a:endParaRPr lang="en-US" sz="21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8705" y="9815869"/>
            <a:ext cx="2736294" cy="1663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748070"/>
            <a:ext cx="1888308" cy="204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spc="108" kern="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TIMELINE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06448" y="1842492"/>
            <a:ext cx="17642408" cy="481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826"/>
              </a:lnSpc>
              <a:buNone/>
            </a:pPr>
            <a:r>
              <a:rPr lang="en-US" sz="4800" spc="-7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Cột mốc 5–8 · 2025–2026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143000" y="4010739"/>
            <a:ext cx="8298180" cy="273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67"/>
              </a:lnSpc>
              <a:buNone/>
            </a:pPr>
            <a:r>
              <a:rPr lang="en-US" sz="2550" spc="-38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19/05/2025 · App iOS và Android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43000" y="4467939"/>
            <a:ext cx="7770114" cy="6893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Nghe offline, và share thẳng web/PDF/YouTube từ app khác vào notebook.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5576411"/>
            <a:ext cx="7770114" cy="6893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Đổi điểm capture, không đổi lõi: share sheet là một cửa nạp dữ liệu mới.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01200" y="4010739"/>
            <a:ext cx="8298180" cy="273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67"/>
              </a:lnSpc>
              <a:buNone/>
            </a:pPr>
            <a:r>
              <a:rPr lang="en-US" sz="2550" spc="-38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09–11/2025 · Flashcards, Quizzes, Learning Guide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601200" y="4467939"/>
            <a:ext cx="8298180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segment sang learning, đưa lên mobile 06/11/2025.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601200" y="5119211"/>
            <a:ext cx="7770114" cy="6893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Thêm một vòng phản hồi, không thêm format: quiz sinh ra tín hiệu user sai ở đâu.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143000" y="7142083"/>
            <a:ext cx="8298180" cy="273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67"/>
              </a:lnSpc>
              <a:buNone/>
            </a:pPr>
            <a:r>
              <a:rPr lang="en-US" sz="2550" spc="-38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11/2025 · Deep Research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143000" y="7599283"/>
            <a:ext cx="7770114" cy="6893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Sản phẩm tự đi tìm và dựng danh sách nguồn có trích dẫn từ web mở.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43000" y="8707755"/>
            <a:ext cx="7770114" cy="6893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Nới ràng buộc sáng lập ở tầng thu thập, giữ nguyên ở tầng hiển thị. </a:t>
            </a:r>
            <a:pPr algn="l" indent="0" marL="0">
              <a:lnSpc>
                <a:spcPct val="150000"/>
              </a:lnSpc>
              <a:buNone/>
            </a:pPr>
            <a:r>
              <a:rPr lang="en-US" sz="2100" i="1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(nguồn thứ cấp)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601200" y="7142083"/>
            <a:ext cx="8298180" cy="273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67"/>
              </a:lnSpc>
              <a:buNone/>
            </a:pPr>
            <a:r>
              <a:rPr lang="en-US" sz="2550" spc="-38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16/07/2026 · Gemini Notebook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601200" y="7599283"/>
            <a:ext cx="7770114" cy="6893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Đổi tên, và mỗi notebook có "secure cloud computer" chạy code trên nguồn đã nạp.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601200" y="8707755"/>
            <a:ext cx="7770114" cy="6893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Đổi brand equity lấy distribution; nâng trần job từ đọc lên thực thi, gate theo tier.</a:t>
            </a:r>
            <a:endParaRPr lang="en-US" sz="21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8705" y="9815869"/>
            <a:ext cx="2736294" cy="1663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62A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53A80">
                  <a:alpha val="70000"/>
                </a:srgbClr>
              </a:gs>
              <a:gs pos="64000">
                <a:srgbClr val="353A80">
                  <a:alpha val="0"/>
                </a:srgbClr>
              </a:gs>
            </a:gsLst>
            <a:path path="circle">
              <a:fillToRect l="22000" t="42000" r="78000" b="58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06793" y="3654862"/>
            <a:ext cx="332817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209"/>
              </a:lnSpc>
              <a:buNone/>
            </a:pPr>
            <a:r>
              <a:rPr lang="en-US" sz="19500" spc="-390" kern="0" dirty="0">
                <a:solidFill>
                  <a:srgbClr val="4C53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500" dirty="0"/>
          </a:p>
        </p:txBody>
      </p:sp>
      <p:sp>
        <p:nvSpPr>
          <p:cNvPr id="4" name="Text 2"/>
          <p:cNvSpPr/>
          <p:nvPr/>
        </p:nvSpPr>
        <p:spPr>
          <a:xfrm>
            <a:off x="1106448" y="6264712"/>
            <a:ext cx="5235345" cy="481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826"/>
              </a:lnSpc>
              <a:buNone/>
            </a:pPr>
            <a:r>
              <a:rPr lang="en-US" sz="4800" spc="-7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Tệp user &amp; JTBD</a:t>
            </a:r>
            <a:endParaRPr lang="en-US" sz="4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748070"/>
            <a:ext cx="1932837" cy="204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spc="108" kern="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TỆP USER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06448" y="1842492"/>
            <a:ext cx="17642408" cy="481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826"/>
              </a:lnSpc>
              <a:buNone/>
            </a:pPr>
            <a:r>
              <a:rPr lang="en-US" sz="4800" spc="-7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kho tư liệu cá nhân đến nhiệm vụ gần hạn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143000" y="4010739"/>
            <a:ext cx="8298180" cy="273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67"/>
              </a:lnSpc>
              <a:buNone/>
            </a:pPr>
            <a:r>
              <a:rPr lang="en-US" sz="2550" spc="-38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adopters · 2023–đầu 2024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43000" y="4467939"/>
            <a:ext cx="7770114" cy="11465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Tác giả nonfiction, nghiên cứu viên, graduate student, analyst — đã có sẵn hàng chục Docs/PDF và tự xây bộ nguồn trước khi hỏi AI.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6033611"/>
            <a:ext cx="7770114" cy="11465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JTBD: tìm đúng trích dẫn trong hàng chục tài liệu, thấy liên hệ giữa các ý, lập outline mà không đánh mất dòng suy nghĩ.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3000" y="7599283"/>
            <a:ext cx="7770114" cy="6893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cũ: Ctrl-F qua PDF, bảng note thủ công, Scrivener, bookmark.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01200" y="4010739"/>
            <a:ext cx="8298180" cy="273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67"/>
              </a:lnSpc>
              <a:buNone/>
            </a:pPr>
            <a:r>
              <a:rPr lang="en-US" sz="2550" spc="-38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Tệp hiện tại · 2025–2026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601200" y="4467939"/>
            <a:ext cx="7770114" cy="6893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sinh và sinh viên; người đi làm knowledge work; người dùng mobile trong hệ Google cần học khi di chuyển.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601200" y="5576411"/>
            <a:ext cx="7770114" cy="6893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JTBD: ôn thi từ giáo trình dài, bắt kịp dự án từ transcript họp, biến một link đang đọc thành nguồn nghe được ngay.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601200" y="6684883"/>
            <a:ext cx="7770114" cy="6893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cũ: highlight và đọc lại, Anki/Quizlet, Notion, hàng chục tab.</a:t>
            </a:r>
            <a:endParaRPr lang="en-US" sz="21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8705" y="9815869"/>
            <a:ext cx="2736294" cy="1663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62A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53A80">
                  <a:alpha val="70000"/>
                </a:srgbClr>
              </a:gs>
              <a:gs pos="64000">
                <a:srgbClr val="353A80">
                  <a:alpha val="0"/>
                </a:srgbClr>
              </a:gs>
            </a:gsLst>
            <a:path path="circle">
              <a:fillToRect l="22000" t="42000" r="78000" b="58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06793" y="3654862"/>
            <a:ext cx="3357515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209"/>
              </a:lnSpc>
              <a:buNone/>
            </a:pPr>
            <a:r>
              <a:rPr lang="en-US" sz="19500" spc="-390" kern="0" dirty="0">
                <a:solidFill>
                  <a:srgbClr val="4C53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500" dirty="0"/>
          </a:p>
        </p:txBody>
      </p:sp>
      <p:sp>
        <p:nvSpPr>
          <p:cNvPr id="4" name="Text 2"/>
          <p:cNvSpPr/>
          <p:nvPr/>
        </p:nvSpPr>
        <p:spPr>
          <a:xfrm>
            <a:off x="1106448" y="6264712"/>
            <a:ext cx="3527381" cy="481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826"/>
              </a:lnSpc>
              <a:buNone/>
            </a:pPr>
            <a:r>
              <a:rPr lang="en-US" sz="4800" spc="-7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dự đoán</a:t>
            </a:r>
            <a:endParaRPr lang="en-US" sz="4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748070"/>
            <a:ext cx="5321784" cy="204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spc="108" kern="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DỰ ĐOÁN 1 · MỞ RỘNG PHÂN PHỐI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06448" y="1842492"/>
            <a:ext cx="17642408" cy="481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826"/>
              </a:lnSpc>
              <a:buNone/>
            </a:pPr>
            <a:r>
              <a:rPr lang="en-US" sz="4800" spc="-7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thành lớp ngữ cảnh của Gemini và Search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143000" y="3421975"/>
            <a:ext cx="13735050" cy="118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Dự đoán: user bắt đầu từ một câu hỏi trong Gemini hoặc AI Mode Search, lưu nguồn vào notebook, rồi quay lại web app để làm deep work — web app vẫn còn nhưng không còn là điểm vào chính.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43000" y="5250775"/>
            <a:ext cx="13735050" cy="118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Lập luận: chuỗi mốc liên tục tháo rào đầu vào (URL/Slides 06/2024 → share sheet 05/2025 → Deep Research 11/2025), cộng đồng bộ notebook Gemini–NotebookLM từ 08/04/2026.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143000" y="7079575"/>
            <a:ext cx="14668500" cy="273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Bác bỏ nếu: sau 12 tháng Search chỉ link ra web app thay vì tạo context dùng chung.</a:t>
            </a:r>
            <a:endParaRPr lang="en-US" sz="2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8705" y="9815869"/>
            <a:ext cx="2736294" cy="1663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748070"/>
            <a:ext cx="5089577" cy="204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spc="108" kern="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DỰ ĐOÁN 2 · MÔ HÌNH KIẾM TIỀN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06448" y="1842492"/>
            <a:ext cx="17642408" cy="481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826"/>
              </a:lnSpc>
              <a:buNone/>
            </a:pPr>
            <a:r>
              <a:rPr lang="en-US" sz="4800" spc="-7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ở dưới, thu tiền ở lớp tổ chức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143000" y="3421975"/>
            <a:ext cx="13735050" cy="118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Dự đoán: tệp sinh viên tiếp tục không thu phí trực tiếp, nhưng mọi tính năng sâu mới — cloud computer, dashboard tiến độ học, tích hợp LMS — vẫn bị gate sau AI Ultra, Workspace và Education tier.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43000" y="5250775"/>
            <a:ext cx="13735050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Lập luận: nhánh tổ chức được giữ bằng anxiety và chi phí phối hợp thể chế nên chịu được giá; nhánh sinh viên chỉ được giữ bằng habit cá nhân, dễ mất nếu bị tính phí.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143000" y="6622375"/>
            <a:ext cx="13735050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Bác bỏ nếu: Google siết monetize ngắn hạn và đưa quảng cáo hoặc giới hạn cứng vào free tier.</a:t>
            </a:r>
            <a:endParaRPr lang="en-US" sz="2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51306" y="9815869"/>
            <a:ext cx="2893695" cy="1663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748070"/>
            <a:ext cx="4810875" cy="204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spc="108" kern="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DỰ ĐOÁN 3 · ĐE DỌA BIG TECH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06448" y="1842492"/>
            <a:ext cx="17642408" cy="481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826"/>
              </a:lnSpc>
              <a:buNone/>
            </a:pPr>
            <a:r>
              <a:rPr lang="en-US" sz="4800" spc="-7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và Drive nuốt job hỏi đáp tài liệu cơ bản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143000" y="3421975"/>
            <a:ext cx="13735050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Dự đoán: năng lực hỏi đáp có citation được đưa sâu vào Gemini và Workspace/Drive; Notebook phải giữ vai trò workspace chuyên biệt cho nghiên cứu và học tập.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43000" y="4793575"/>
            <a:ext cx="13735050" cy="118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Lập luận: lợi thế giữ user là source-grounding trong workflow đã tổ chức, nhưng dữ liệu vẫn import/export được — đối thủ chỉ cần import tốt và citation đáng tin là kéo được user đi.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143000" y="6622375"/>
            <a:ext cx="13735050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Bác bỏ nếu: Studio và chất lượng grounded tách biệt đủ rõ để Notebook thành điểm đến chuyên dụng thay vì bị cannibalize.</a:t>
            </a:r>
            <a:endParaRPr lang="en-US" sz="2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51306" y="9815869"/>
            <a:ext cx="2893695" cy="1663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748070"/>
            <a:ext cx="2998006" cy="204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spc="108" kern="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TEARDOWN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83588" y="3752850"/>
            <a:ext cx="17667554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0" spc="-156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Cảm ơn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143000" y="5238750"/>
            <a:ext cx="8417256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48"/>
              </a:lnSpc>
              <a:buNone/>
            </a:pPr>
            <a:r>
              <a:rPr lang="en-US" sz="30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NotebookLM chưa bao giờ đua "chatbot trả lời mọi thứ" — nó xây lớp nguồn có kiểm soát, rồi mới mở distribution lên trên lớp đó.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43000" y="9206270"/>
            <a:ext cx="6143744" cy="204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Google Blog, App Store, Reddit, 9to5Google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2026-08-14T06:12:19Z</dcterms:created>
  <dcterms:modified xsi:type="dcterms:W3CDTF">2026-08-14T06:12:19Z</dcterms:modified>
</cp:coreProperties>
</file>